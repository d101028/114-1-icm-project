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23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85414"/>
            <a:ext cx="10363200" cy="401083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050924"/>
            <a:ext cx="9144000" cy="278145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27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63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872125"/>
            <a:ext cx="10515600" cy="479220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709663"/>
            <a:ext cx="10515600" cy="252010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686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066796"/>
            <a:ext cx="5181600" cy="730964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066796"/>
            <a:ext cx="5181600" cy="730964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11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13362"/>
            <a:ext cx="10515600" cy="222676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824120"/>
            <a:ext cx="5157787" cy="138405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208178"/>
            <a:ext cx="5157787" cy="618959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824120"/>
            <a:ext cx="5183188" cy="138405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208178"/>
            <a:ext cx="5183188" cy="618959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28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85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07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8032"/>
            <a:ext cx="3932237" cy="268811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58740"/>
            <a:ext cx="6172200" cy="81870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56146"/>
            <a:ext cx="3932237" cy="64029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36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8032"/>
            <a:ext cx="3932237" cy="268811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58740"/>
            <a:ext cx="6172200" cy="818701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56146"/>
            <a:ext cx="3932237" cy="64029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86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37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13359"/>
            <a:ext cx="2628900" cy="976308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13359"/>
            <a:ext cx="7734300" cy="976308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898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13362"/>
            <a:ext cx="10515600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66796"/>
            <a:ext cx="10515600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677788"/>
            <a:ext cx="27432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25C2B-7C71-43CD-AE88-1635E0A4F3F1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677788"/>
            <a:ext cx="41148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677788"/>
            <a:ext cx="27432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35D26-E40F-4EE0-A41E-EC414BEEEA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56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431AEC-2436-1053-4BA1-DF20A2164647}"/>
              </a:ext>
            </a:extLst>
          </p:cNvPr>
          <p:cNvSpPr txBox="1"/>
          <p:nvPr/>
        </p:nvSpPr>
        <p:spPr>
          <a:xfrm>
            <a:off x="155575" y="319314"/>
            <a:ext cx="9307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2">
                    <a:lumMod val="25000"/>
                  </a:schemeClr>
                </a:solidFill>
              </a:rPr>
              <a:t>Robust Mathematical Symbol Recognition via Metric-Based Template Matching</a:t>
            </a:r>
            <a:endParaRPr lang="zh-TW" altLang="en-US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899B68-5ED5-C8DF-AB5E-FABB2EF042DE}"/>
              </a:ext>
            </a:extLst>
          </p:cNvPr>
          <p:cNvSpPr txBox="1"/>
          <p:nvPr/>
        </p:nvSpPr>
        <p:spPr>
          <a:xfrm>
            <a:off x="155575" y="1651575"/>
            <a:ext cx="5280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2">
                    <a:lumMod val="25000"/>
                  </a:schemeClr>
                </a:solidFill>
              </a:rPr>
              <a:t>Yu-Hsiang Chan, Kuan-Ting Wu, Hui-Yu Chou</a:t>
            </a:r>
            <a:endParaRPr lang="zh-TW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2F7708D-0CC2-7DAA-F8D4-0B632900A582}"/>
              </a:ext>
            </a:extLst>
          </p:cNvPr>
          <p:cNvGrpSpPr/>
          <p:nvPr/>
        </p:nvGrpSpPr>
        <p:grpSpPr>
          <a:xfrm>
            <a:off x="261258" y="2183617"/>
            <a:ext cx="4056741" cy="7424840"/>
            <a:chOff x="449943" y="2183617"/>
            <a:chExt cx="3860800" cy="90175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84419CA-5502-DC0E-25E3-AE44F52B8926}"/>
                </a:ext>
              </a:extLst>
            </p:cNvPr>
            <p:cNvSpPr/>
            <p:nvPr/>
          </p:nvSpPr>
          <p:spPr>
            <a:xfrm>
              <a:off x="449943" y="2845611"/>
              <a:ext cx="3860800" cy="8355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TW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FA326DB-077B-A5A0-3C8B-8BA513FD3A93}"/>
                </a:ext>
              </a:extLst>
            </p:cNvPr>
            <p:cNvSpPr/>
            <p:nvPr/>
          </p:nvSpPr>
          <p:spPr>
            <a:xfrm>
              <a:off x="449943" y="2183617"/>
              <a:ext cx="3860800" cy="6619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4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①</a:t>
              </a:r>
              <a:r>
                <a:rPr lang="en-US" altLang="zh-TW" sz="2400" b="1" dirty="0"/>
                <a:t> The Study</a:t>
              </a:r>
              <a:endParaRPr lang="zh-TW" altLang="en-US" sz="2400" b="1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1407B72C-E861-4FA9-092F-0DC1AC06E75A}"/>
              </a:ext>
            </a:extLst>
          </p:cNvPr>
          <p:cNvGrpSpPr/>
          <p:nvPr/>
        </p:nvGrpSpPr>
        <p:grpSpPr>
          <a:xfrm>
            <a:off x="4579258" y="2183617"/>
            <a:ext cx="7351482" cy="6211082"/>
            <a:chOff x="449943" y="2183616"/>
            <a:chExt cx="3860800" cy="973101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AEF2CD1-8D90-FB24-6A81-6CE4B6C9BA27}"/>
                </a:ext>
              </a:extLst>
            </p:cNvPr>
            <p:cNvSpPr/>
            <p:nvPr/>
          </p:nvSpPr>
          <p:spPr>
            <a:xfrm>
              <a:off x="449943" y="3017175"/>
              <a:ext cx="3860800" cy="8897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7969D67-3701-B51C-9E4B-11B5480D5626}"/>
                </a:ext>
              </a:extLst>
            </p:cNvPr>
            <p:cNvSpPr/>
            <p:nvPr/>
          </p:nvSpPr>
          <p:spPr>
            <a:xfrm>
              <a:off x="449943" y="2183616"/>
              <a:ext cx="3860800" cy="85397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4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②</a:t>
              </a:r>
              <a:r>
                <a:rPr lang="en-US" altLang="zh-TW" sz="2400" b="1" dirty="0"/>
                <a:t> Findings</a:t>
              </a:r>
              <a:endParaRPr lang="zh-TW" altLang="en-US" sz="2400" b="1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C46CB40-49C5-AF9E-09CA-AAC35DD99751}"/>
              </a:ext>
            </a:extLst>
          </p:cNvPr>
          <p:cNvSpPr/>
          <p:nvPr/>
        </p:nvSpPr>
        <p:spPr>
          <a:xfrm>
            <a:off x="4579256" y="9100449"/>
            <a:ext cx="7351481" cy="2265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28" name="Picture 4" descr="Warning-Sign Icons - Free SVG &amp; PNG Warning-Sign Images - Noun Project">
            <a:extLst>
              <a:ext uri="{FF2B5EF4-FFF2-40B4-BE49-F238E27FC236}">
                <a16:creationId xmlns:a16="http://schemas.microsoft.com/office/drawing/2014/main" id="{F0297B1B-FB8F-10EE-2B82-517BC6ED5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8" y="9868913"/>
            <a:ext cx="395740" cy="39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70E1876-A214-BD18-63EA-6F2909D4B276}"/>
              </a:ext>
            </a:extLst>
          </p:cNvPr>
          <p:cNvSpPr txBox="1"/>
          <p:nvPr/>
        </p:nvSpPr>
        <p:spPr>
          <a:xfrm>
            <a:off x="656998" y="9723846"/>
            <a:ext cx="3800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Key limitation: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Sensitive to poor image quality, rotation, and noise, and template matching does not scale efficiently to larger symbol libraries without advanced indexing.</a:t>
            </a:r>
            <a:endParaRPr lang="zh-TW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2982B62-4061-D85C-C0CC-DD6560A6D493}"/>
              </a:ext>
            </a:extLst>
          </p:cNvPr>
          <p:cNvSpPr txBox="1"/>
          <p:nvPr/>
        </p:nvSpPr>
        <p:spPr>
          <a:xfrm>
            <a:off x="181881" y="2800701"/>
            <a:ext cx="48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🧩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73FBAA4-B581-7CC1-A461-7507DBCDAB5C}"/>
              </a:ext>
            </a:extLst>
          </p:cNvPr>
          <p:cNvSpPr txBox="1"/>
          <p:nvPr/>
        </p:nvSpPr>
        <p:spPr>
          <a:xfrm>
            <a:off x="555398" y="2797119"/>
            <a:ext cx="37626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Problem: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Converting math images to LaTeX is hard due to 2D structure, fragmented symbols, and large character sets. Classical CCA fails when strokes break (e.g., ∫) or multi-part glyphs separate (e.g.</a:t>
            </a:r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 err="1">
                <a:solidFill>
                  <a:schemeClr val="bg2">
                    <a:lumMod val="50000"/>
                  </a:schemeClr>
                </a:solidFill>
                <a:latin typeface="Monotype Corsiva" panose="03010101010201010101" pitchFamily="66" charset="0"/>
              </a:rPr>
              <a:t>i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, ÷, ≈).</a:t>
            </a:r>
          </a:p>
          <a:p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D49A695-3965-5C23-7496-1254D70E4B5C}"/>
              </a:ext>
            </a:extLst>
          </p:cNvPr>
          <p:cNvSpPr txBox="1"/>
          <p:nvPr/>
        </p:nvSpPr>
        <p:spPr>
          <a:xfrm>
            <a:off x="555398" y="4536409"/>
            <a:ext cx="3762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Solution: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An </a:t>
            </a:r>
            <a:r>
              <a:rPr lang="en-US" altLang="zh-TW" i="1" u="sng" dirty="0">
                <a:solidFill>
                  <a:schemeClr val="bg2">
                    <a:lumMod val="50000"/>
                  </a:schemeClr>
                </a:solidFill>
              </a:rPr>
              <a:t>Adaptive Recursive Clustering</a:t>
            </a:r>
            <a:r>
              <a:rPr lang="en-US" altLang="zh-TW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framework that re-groups components using recognition-driven feedback instead of static segmentation.</a:t>
            </a:r>
            <a:endParaRPr lang="zh-TW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CC021F6-A4B2-A4BE-D985-308099F9B889}"/>
              </a:ext>
            </a:extLst>
          </p:cNvPr>
          <p:cNvSpPr txBox="1"/>
          <p:nvPr/>
        </p:nvSpPr>
        <p:spPr>
          <a:xfrm>
            <a:off x="555398" y="5995231"/>
            <a:ext cx="3762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Core Theory: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Similarity is evaluated in a normalized metric space using </a:t>
            </a:r>
            <a:r>
              <a:rPr lang="en-US" altLang="zh-TW" i="1" dirty="0">
                <a:solidFill>
                  <a:schemeClr val="bg2">
                    <a:lumMod val="50000"/>
                  </a:schemeClr>
                </a:solidFill>
              </a:rPr>
              <a:t>L2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altLang="zh-TW" i="1" dirty="0" err="1">
                <a:solidFill>
                  <a:schemeClr val="bg2">
                    <a:lumMod val="50000"/>
                  </a:schemeClr>
                </a:solidFill>
              </a:rPr>
              <a:t>Hausdorff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, and </a:t>
            </a:r>
            <a:r>
              <a:rPr lang="en-US" altLang="zh-TW" i="1" dirty="0">
                <a:solidFill>
                  <a:schemeClr val="bg2">
                    <a:lumMod val="50000"/>
                  </a:schemeClr>
                </a:solidFill>
              </a:rPr>
              <a:t>Chamfer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 measures.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6D0F96A-4806-ACE2-CC60-BA3CB8DAFBF6}"/>
              </a:ext>
            </a:extLst>
          </p:cNvPr>
          <p:cNvSpPr txBox="1"/>
          <p:nvPr/>
        </p:nvSpPr>
        <p:spPr>
          <a:xfrm>
            <a:off x="555398" y="7150789"/>
            <a:ext cx="37626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Gap: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Little research compares these metrics inside a recursive clustering loop.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53CF3AD-E9AF-0EF8-3D61-C68C6241417F}"/>
              </a:ext>
            </a:extLst>
          </p:cNvPr>
          <p:cNvSpPr txBox="1"/>
          <p:nvPr/>
        </p:nvSpPr>
        <p:spPr>
          <a:xfrm>
            <a:off x="555398" y="8030364"/>
            <a:ext cx="3762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Objective: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Identify which metric best guides reconstruction of fragmented math symbols, with the hypothesis that </a:t>
            </a:r>
            <a:r>
              <a:rPr lang="en-US" altLang="zh-TW" i="1" dirty="0">
                <a:solidFill>
                  <a:schemeClr val="bg2">
                    <a:lumMod val="50000"/>
                  </a:schemeClr>
                </a:solidFill>
              </a:rPr>
              <a:t>Chamfer</a:t>
            </a:r>
            <a:r>
              <a:rPr lang="en-US" altLang="zh-TW" dirty="0">
                <a:solidFill>
                  <a:schemeClr val="bg2">
                    <a:lumMod val="50000"/>
                  </a:schemeClr>
                </a:solidFill>
              </a:rPr>
              <a:t> is most robust.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740A735-921D-4D1F-E229-A5246C8F1A79}"/>
              </a:ext>
            </a:extLst>
          </p:cNvPr>
          <p:cNvSpPr txBox="1"/>
          <p:nvPr/>
        </p:nvSpPr>
        <p:spPr>
          <a:xfrm>
            <a:off x="181881" y="4536258"/>
            <a:ext cx="498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⚙️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F858FDA-E042-C5D4-F702-7424D7E71330}"/>
              </a:ext>
            </a:extLst>
          </p:cNvPr>
          <p:cNvSpPr txBox="1"/>
          <p:nvPr/>
        </p:nvSpPr>
        <p:spPr>
          <a:xfrm>
            <a:off x="197190" y="6010003"/>
            <a:ext cx="523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📐</a:t>
            </a:r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A400CF6-5F3F-0540-6306-657E2BDCF12E}"/>
              </a:ext>
            </a:extLst>
          </p:cNvPr>
          <p:cNvSpPr txBox="1"/>
          <p:nvPr/>
        </p:nvSpPr>
        <p:spPr>
          <a:xfrm>
            <a:off x="190839" y="7167824"/>
            <a:ext cx="48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bg2">
                    <a:lumMod val="25000"/>
                  </a:schemeClr>
                </a:solidFill>
              </a:rPr>
              <a:t>📚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A4C3668-38ED-BD74-DB81-472844ACDA75}"/>
              </a:ext>
            </a:extLst>
          </p:cNvPr>
          <p:cNvSpPr txBox="1"/>
          <p:nvPr/>
        </p:nvSpPr>
        <p:spPr>
          <a:xfrm>
            <a:off x="197190" y="8025367"/>
            <a:ext cx="422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🎯</a:t>
            </a:r>
            <a:endParaRPr lang="zh-TW" altLang="en-US" dirty="0"/>
          </a:p>
        </p:txBody>
      </p:sp>
      <p:pic>
        <p:nvPicPr>
          <p:cNvPr id="43" name="圖片 42" descr="一張含有 文字, 螢幕擷取畫面, 鮮豔, 繪圖 的圖片&#10;&#10;AI 產生的內容可能不正確。">
            <a:extLst>
              <a:ext uri="{FF2B5EF4-FFF2-40B4-BE49-F238E27FC236}">
                <a16:creationId xmlns:a16="http://schemas.microsoft.com/office/drawing/2014/main" id="{38E97E6D-DE22-5A56-CFFF-047A20A41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980" y="3584762"/>
            <a:ext cx="4315970" cy="2157987"/>
          </a:xfrm>
          <a:prstGeom prst="rect">
            <a:avLst/>
          </a:prstGeom>
        </p:spPr>
      </p:pic>
      <p:pic>
        <p:nvPicPr>
          <p:cNvPr id="45" name="圖片 44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7B09E3C5-10B8-062E-5317-38F67DB47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200" y="6010003"/>
            <a:ext cx="4315974" cy="2157987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5BF6D18D-F785-A5FD-9150-05C2AD267810}"/>
              </a:ext>
            </a:extLst>
          </p:cNvPr>
          <p:cNvSpPr txBox="1"/>
          <p:nvPr/>
        </p:nvSpPr>
        <p:spPr>
          <a:xfrm>
            <a:off x="4627119" y="2799063"/>
            <a:ext cx="73514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bg2">
                    <a:lumMod val="50000"/>
                  </a:schemeClr>
                </a:solidFill>
              </a:rPr>
              <a:t>Hybrid metrics yield the best trade-off: L2 filters quickly, Chamfer handles fragmentation, and together they deliver higher accuracy with far lower latency.</a:t>
            </a:r>
            <a:endParaRPr lang="zh-TW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C66863BA-9547-08B4-3226-3E8A52CA87A9}"/>
              </a:ext>
            </a:extLst>
          </p:cNvPr>
          <p:cNvSpPr txBox="1"/>
          <p:nvPr/>
        </p:nvSpPr>
        <p:spPr>
          <a:xfrm>
            <a:off x="5793120" y="5630353"/>
            <a:ext cx="4548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L2 + Chamfer achieves the highest accuracy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3A2B460-ACDA-7B43-2823-FEAFE073FF10}"/>
              </a:ext>
            </a:extLst>
          </p:cNvPr>
          <p:cNvSpPr txBox="1"/>
          <p:nvPr/>
        </p:nvSpPr>
        <p:spPr>
          <a:xfrm>
            <a:off x="5257980" y="8060386"/>
            <a:ext cx="6089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</a:rPr>
              <a:t>Hybrid metrics cut computation time by using L2 as a fast pre-filter</a:t>
            </a:r>
            <a:endParaRPr lang="zh-TW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4" name="流程圖: 換頁接點 53">
            <a:extLst>
              <a:ext uri="{FF2B5EF4-FFF2-40B4-BE49-F238E27FC236}">
                <a16:creationId xmlns:a16="http://schemas.microsoft.com/office/drawing/2014/main" id="{D58C7A46-EE7D-63D6-B042-82085484C95C}"/>
              </a:ext>
            </a:extLst>
          </p:cNvPr>
          <p:cNvSpPr/>
          <p:nvPr/>
        </p:nvSpPr>
        <p:spPr>
          <a:xfrm rot="16200000">
            <a:off x="8058386" y="9351127"/>
            <a:ext cx="2279937" cy="1749551"/>
          </a:xfrm>
          <a:prstGeom prst="flowChartOffpage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流程圖: 換頁接點 60">
            <a:extLst>
              <a:ext uri="{FF2B5EF4-FFF2-40B4-BE49-F238E27FC236}">
                <a16:creationId xmlns:a16="http://schemas.microsoft.com/office/drawing/2014/main" id="{47868171-85F0-59E3-9120-4AF49EF61EC2}"/>
              </a:ext>
            </a:extLst>
          </p:cNvPr>
          <p:cNvSpPr/>
          <p:nvPr/>
        </p:nvSpPr>
        <p:spPr>
          <a:xfrm rot="16200000">
            <a:off x="6900476" y="9362637"/>
            <a:ext cx="2279939" cy="1749551"/>
          </a:xfrm>
          <a:prstGeom prst="flowChartOffpage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流程圖: 換頁接點 52">
            <a:extLst>
              <a:ext uri="{FF2B5EF4-FFF2-40B4-BE49-F238E27FC236}">
                <a16:creationId xmlns:a16="http://schemas.microsoft.com/office/drawing/2014/main" id="{E016288B-A370-F6CD-6BD0-82B2E2CE4A25}"/>
              </a:ext>
            </a:extLst>
          </p:cNvPr>
          <p:cNvSpPr/>
          <p:nvPr/>
        </p:nvSpPr>
        <p:spPr>
          <a:xfrm rot="16200000">
            <a:off x="5647877" y="9450608"/>
            <a:ext cx="2268432" cy="1562100"/>
          </a:xfrm>
          <a:prstGeom prst="flowChartOffpage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0" name="流程圖: 換頁接點 59">
            <a:extLst>
              <a:ext uri="{FF2B5EF4-FFF2-40B4-BE49-F238E27FC236}">
                <a16:creationId xmlns:a16="http://schemas.microsoft.com/office/drawing/2014/main" id="{37AC9000-F7E7-14ED-E443-81953D0929EE}"/>
              </a:ext>
            </a:extLst>
          </p:cNvPr>
          <p:cNvSpPr/>
          <p:nvPr/>
        </p:nvSpPr>
        <p:spPr>
          <a:xfrm rot="16200000">
            <a:off x="4445251" y="9231330"/>
            <a:ext cx="2279941" cy="2012165"/>
          </a:xfrm>
          <a:prstGeom prst="flowChartOffpage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8A1B8E4-84A2-23FC-F57D-597A206F41C3}"/>
              </a:ext>
            </a:extLst>
          </p:cNvPr>
          <p:cNvSpPr txBox="1"/>
          <p:nvPr/>
        </p:nvSpPr>
        <p:spPr>
          <a:xfrm>
            <a:off x="4627119" y="9585442"/>
            <a:ext cx="2724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</a:rPr>
              <a:t>Rule-based Math-OCR lacked reliable handling of fragmented symbols and had no metric-level performance comparison.</a:t>
            </a:r>
            <a:endParaRPr lang="zh-TW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CA763E4-D8CF-E305-120A-573A81AEAC55}"/>
              </a:ext>
            </a:extLst>
          </p:cNvPr>
          <p:cNvSpPr txBox="1"/>
          <p:nvPr/>
        </p:nvSpPr>
        <p:spPr>
          <a:xfrm>
            <a:off x="4439555" y="9104198"/>
            <a:ext cx="2847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Before this study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3F2A7A24-B39D-81A2-D514-3E0F424CA6DD}"/>
              </a:ext>
            </a:extLst>
          </p:cNvPr>
          <p:cNvSpPr txBox="1"/>
          <p:nvPr/>
        </p:nvSpPr>
        <p:spPr>
          <a:xfrm>
            <a:off x="7555699" y="9451705"/>
            <a:ext cx="25866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</a:rPr>
              <a:t>We benchmarked L2, </a:t>
            </a:r>
            <a:r>
              <a:rPr lang="en-US" altLang="zh-TW" sz="1600" dirty="0" err="1">
                <a:solidFill>
                  <a:schemeClr val="bg2">
                    <a:lumMod val="50000"/>
                  </a:schemeClr>
                </a:solidFill>
              </a:rPr>
              <a:t>Hausdorff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</a:rPr>
              <a:t>, and Chamfer inside an adaptive clustering pipeline across desktop and mobile hardware.</a:t>
            </a:r>
            <a:endParaRPr lang="zh-TW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24" name="文字方塊 1023">
            <a:extLst>
              <a:ext uri="{FF2B5EF4-FFF2-40B4-BE49-F238E27FC236}">
                <a16:creationId xmlns:a16="http://schemas.microsoft.com/office/drawing/2014/main" id="{2CB1035C-EB01-6ABC-05F7-A01C5CCD87EE}"/>
              </a:ext>
            </a:extLst>
          </p:cNvPr>
          <p:cNvSpPr txBox="1"/>
          <p:nvPr/>
        </p:nvSpPr>
        <p:spPr>
          <a:xfrm>
            <a:off x="7117098" y="9104198"/>
            <a:ext cx="2847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Added value</a:t>
            </a:r>
          </a:p>
        </p:txBody>
      </p:sp>
      <p:sp>
        <p:nvSpPr>
          <p:cNvPr id="1025" name="文字方塊 1024">
            <a:extLst>
              <a:ext uri="{FF2B5EF4-FFF2-40B4-BE49-F238E27FC236}">
                <a16:creationId xmlns:a16="http://schemas.microsoft.com/office/drawing/2014/main" id="{37EC87FF-6830-81FB-9F69-6335A58CD119}"/>
              </a:ext>
            </a:extLst>
          </p:cNvPr>
          <p:cNvSpPr txBox="1"/>
          <p:nvPr/>
        </p:nvSpPr>
        <p:spPr>
          <a:xfrm>
            <a:off x="9450279" y="9104198"/>
            <a:ext cx="2847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Implications</a:t>
            </a:r>
          </a:p>
        </p:txBody>
      </p:sp>
      <p:sp>
        <p:nvSpPr>
          <p:cNvPr id="1027" name="文字方塊 1026">
            <a:extLst>
              <a:ext uri="{FF2B5EF4-FFF2-40B4-BE49-F238E27FC236}">
                <a16:creationId xmlns:a16="http://schemas.microsoft.com/office/drawing/2014/main" id="{E959A3EA-C204-3E5B-8ACE-8D1CAD6C386D}"/>
              </a:ext>
            </a:extLst>
          </p:cNvPr>
          <p:cNvSpPr txBox="1"/>
          <p:nvPr/>
        </p:nvSpPr>
        <p:spPr>
          <a:xfrm>
            <a:off x="10021721" y="9380658"/>
            <a:ext cx="20713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</a:rPr>
              <a:t>Hybrid metrics—especially L2 + Chamfer—offer accurate, light-weight, and mobile-feasible recognition of complex math symbols.</a:t>
            </a:r>
            <a:endParaRPr lang="zh-TW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AE8A56-27D7-17B2-8493-C279601CBFE8}"/>
              </a:ext>
            </a:extLst>
          </p:cNvPr>
          <p:cNvSpPr/>
          <p:nvPr/>
        </p:nvSpPr>
        <p:spPr>
          <a:xfrm>
            <a:off x="4579256" y="8544656"/>
            <a:ext cx="7351481" cy="5576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③</a:t>
            </a:r>
            <a:r>
              <a:rPr lang="en-US" altLang="zh-TW" sz="2400" b="1" dirty="0"/>
              <a:t> Research in context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6335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288</Words>
  <Application>Microsoft Office PowerPoint</Application>
  <PresentationFormat>自訂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Microsoft YaHei Light</vt:lpstr>
      <vt:lpstr>Aptos</vt:lpstr>
      <vt:lpstr>Aptos Display</vt:lpstr>
      <vt:lpstr>Arial</vt:lpstr>
      <vt:lpstr>Monotype Corsiva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 L</dc:creator>
  <cp:lastModifiedBy>KK L</cp:lastModifiedBy>
  <cp:revision>51</cp:revision>
  <dcterms:created xsi:type="dcterms:W3CDTF">2025-12-22T08:51:24Z</dcterms:created>
  <dcterms:modified xsi:type="dcterms:W3CDTF">2025-12-22T10:16:30Z</dcterms:modified>
</cp:coreProperties>
</file>