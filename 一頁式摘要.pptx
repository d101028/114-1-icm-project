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</p:sldIdLst>
  <p:sldSz cx="12192000" cy="11520488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66" d="100"/>
          <a:sy n="66" d="100"/>
        </p:scale>
        <p:origin x="2310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1885414"/>
            <a:ext cx="10363200" cy="4010837"/>
          </a:xfrm>
        </p:spPr>
        <p:txBody>
          <a:bodyPr anchor="b"/>
          <a:lstStyle>
            <a:lvl1pPr algn="ctr">
              <a:defRPr sz="80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6050924"/>
            <a:ext cx="9144000" cy="2781450"/>
          </a:xfrm>
        </p:spPr>
        <p:txBody>
          <a:bodyPr/>
          <a:lstStyle>
            <a:lvl1pPr marL="0" indent="0" algn="ctr">
              <a:buNone/>
              <a:defRPr sz="3200"/>
            </a:lvl1pPr>
            <a:lvl2pPr marL="609585" indent="0" algn="ctr">
              <a:buNone/>
              <a:defRPr sz="2667"/>
            </a:lvl2pPr>
            <a:lvl3pPr marL="1219170" indent="0" algn="ctr">
              <a:buNone/>
              <a:defRPr sz="2400"/>
            </a:lvl3pPr>
            <a:lvl4pPr marL="1828754" indent="0" algn="ctr">
              <a:buNone/>
              <a:defRPr sz="2133"/>
            </a:lvl4pPr>
            <a:lvl5pPr marL="2438339" indent="0" algn="ctr">
              <a:buNone/>
              <a:defRPr sz="2133"/>
            </a:lvl5pPr>
            <a:lvl6pPr marL="3047924" indent="0" algn="ctr">
              <a:buNone/>
              <a:defRPr sz="2133"/>
            </a:lvl6pPr>
            <a:lvl7pPr marL="3657509" indent="0" algn="ctr">
              <a:buNone/>
              <a:defRPr sz="2133"/>
            </a:lvl7pPr>
            <a:lvl8pPr marL="4267093" indent="0" algn="ctr">
              <a:buNone/>
              <a:defRPr sz="2133"/>
            </a:lvl8pPr>
            <a:lvl9pPr marL="4876678" indent="0" algn="ctr">
              <a:buNone/>
              <a:defRPr sz="2133"/>
            </a:lvl9pPr>
          </a:lstStyle>
          <a:p>
            <a:r>
              <a:rPr lang="zh-TW" altLang="en-US"/>
              <a:t>按一下以編輯母片子標題樣式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625C2B-7C71-43CD-AE88-1635E0A4F3F1}" type="datetimeFigureOut">
              <a:rPr lang="zh-TW" altLang="en-US" smtClean="0"/>
              <a:t>2025/12/22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635D26-E40F-4EE0-A41E-EC414BEEEAB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42527040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625C2B-7C71-43CD-AE88-1635E0A4F3F1}" type="datetimeFigureOut">
              <a:rPr lang="zh-TW" altLang="en-US" smtClean="0"/>
              <a:t>2025/12/22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635D26-E40F-4EE0-A41E-EC414BEEEAB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5663526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1" y="2872125"/>
            <a:ext cx="10515600" cy="4792202"/>
          </a:xfrm>
        </p:spPr>
        <p:txBody>
          <a:bodyPr anchor="b"/>
          <a:lstStyle>
            <a:lvl1pPr>
              <a:defRPr sz="80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1" y="7709663"/>
            <a:ext cx="10515600" cy="2520106"/>
          </a:xfrm>
        </p:spPr>
        <p:txBody>
          <a:bodyPr/>
          <a:lstStyle>
            <a:lvl1pPr marL="0" indent="0">
              <a:buNone/>
              <a:defRPr sz="3200">
                <a:solidFill>
                  <a:schemeClr val="tx1">
                    <a:tint val="82000"/>
                  </a:schemeClr>
                </a:solidFill>
              </a:defRPr>
            </a:lvl1pPr>
            <a:lvl2pPr marL="609585" indent="0">
              <a:buNone/>
              <a:defRPr sz="2667">
                <a:solidFill>
                  <a:schemeClr val="tx1">
                    <a:tint val="82000"/>
                  </a:schemeClr>
                </a:solidFill>
              </a:defRPr>
            </a:lvl2pPr>
            <a:lvl3pPr marL="121917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3pPr>
            <a:lvl4pPr marL="1828754" indent="0">
              <a:buNone/>
              <a:defRPr sz="2133">
                <a:solidFill>
                  <a:schemeClr val="tx1">
                    <a:tint val="82000"/>
                  </a:schemeClr>
                </a:solidFill>
              </a:defRPr>
            </a:lvl4pPr>
            <a:lvl5pPr marL="2438339" indent="0">
              <a:buNone/>
              <a:defRPr sz="2133">
                <a:solidFill>
                  <a:schemeClr val="tx1">
                    <a:tint val="82000"/>
                  </a:schemeClr>
                </a:solidFill>
              </a:defRPr>
            </a:lvl5pPr>
            <a:lvl6pPr marL="3047924" indent="0">
              <a:buNone/>
              <a:defRPr sz="2133">
                <a:solidFill>
                  <a:schemeClr val="tx1">
                    <a:tint val="82000"/>
                  </a:schemeClr>
                </a:solidFill>
              </a:defRPr>
            </a:lvl6pPr>
            <a:lvl7pPr marL="3657509" indent="0">
              <a:buNone/>
              <a:defRPr sz="2133">
                <a:solidFill>
                  <a:schemeClr val="tx1">
                    <a:tint val="82000"/>
                  </a:schemeClr>
                </a:solidFill>
              </a:defRPr>
            </a:lvl7pPr>
            <a:lvl8pPr marL="4267093" indent="0">
              <a:buNone/>
              <a:defRPr sz="2133">
                <a:solidFill>
                  <a:schemeClr val="tx1">
                    <a:tint val="82000"/>
                  </a:schemeClr>
                </a:solidFill>
              </a:defRPr>
            </a:lvl8pPr>
            <a:lvl9pPr marL="4876678" indent="0">
              <a:buNone/>
              <a:defRPr sz="2133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625C2B-7C71-43CD-AE88-1635E0A4F3F1}" type="datetimeFigureOut">
              <a:rPr lang="zh-TW" altLang="en-US" smtClean="0"/>
              <a:t>2025/12/22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635D26-E40F-4EE0-A41E-EC414BEEEAB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83686207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3066796"/>
            <a:ext cx="5181600" cy="7309644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3066796"/>
            <a:ext cx="5181600" cy="7309644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625C2B-7C71-43CD-AE88-1635E0A4F3F1}" type="datetimeFigureOut">
              <a:rPr lang="zh-TW" altLang="en-US" smtClean="0"/>
              <a:t>2025/12/22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635D26-E40F-4EE0-A41E-EC414BEEEAB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9311933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613362"/>
            <a:ext cx="10515600" cy="2226762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9" y="2824120"/>
            <a:ext cx="5157787" cy="1384058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609585" indent="0">
              <a:buNone/>
              <a:defRPr sz="2667" b="1"/>
            </a:lvl2pPr>
            <a:lvl3pPr marL="1219170" indent="0">
              <a:buNone/>
              <a:defRPr sz="2400" b="1"/>
            </a:lvl3pPr>
            <a:lvl4pPr marL="1828754" indent="0">
              <a:buNone/>
              <a:defRPr sz="2133" b="1"/>
            </a:lvl4pPr>
            <a:lvl5pPr marL="2438339" indent="0">
              <a:buNone/>
              <a:defRPr sz="2133" b="1"/>
            </a:lvl5pPr>
            <a:lvl6pPr marL="3047924" indent="0">
              <a:buNone/>
              <a:defRPr sz="2133" b="1"/>
            </a:lvl6pPr>
            <a:lvl7pPr marL="3657509" indent="0">
              <a:buNone/>
              <a:defRPr sz="2133" b="1"/>
            </a:lvl7pPr>
            <a:lvl8pPr marL="4267093" indent="0">
              <a:buNone/>
              <a:defRPr sz="2133" b="1"/>
            </a:lvl8pPr>
            <a:lvl9pPr marL="4876678" indent="0">
              <a:buNone/>
              <a:defRPr sz="2133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9" y="4208178"/>
            <a:ext cx="5157787" cy="6189596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1" y="2824120"/>
            <a:ext cx="5183188" cy="1384058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609585" indent="0">
              <a:buNone/>
              <a:defRPr sz="2667" b="1"/>
            </a:lvl2pPr>
            <a:lvl3pPr marL="1219170" indent="0">
              <a:buNone/>
              <a:defRPr sz="2400" b="1"/>
            </a:lvl3pPr>
            <a:lvl4pPr marL="1828754" indent="0">
              <a:buNone/>
              <a:defRPr sz="2133" b="1"/>
            </a:lvl4pPr>
            <a:lvl5pPr marL="2438339" indent="0">
              <a:buNone/>
              <a:defRPr sz="2133" b="1"/>
            </a:lvl5pPr>
            <a:lvl6pPr marL="3047924" indent="0">
              <a:buNone/>
              <a:defRPr sz="2133" b="1"/>
            </a:lvl6pPr>
            <a:lvl7pPr marL="3657509" indent="0">
              <a:buNone/>
              <a:defRPr sz="2133" b="1"/>
            </a:lvl7pPr>
            <a:lvl8pPr marL="4267093" indent="0">
              <a:buNone/>
              <a:defRPr sz="2133" b="1"/>
            </a:lvl8pPr>
            <a:lvl9pPr marL="4876678" indent="0">
              <a:buNone/>
              <a:defRPr sz="2133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1" y="4208178"/>
            <a:ext cx="5183188" cy="6189596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625C2B-7C71-43CD-AE88-1635E0A4F3F1}" type="datetimeFigureOut">
              <a:rPr lang="zh-TW" altLang="en-US" smtClean="0"/>
              <a:t>2025/12/22</a:t>
            </a:fld>
            <a:endParaRPr lang="zh-TW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635D26-E40F-4EE0-A41E-EC414BEEEAB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442826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625C2B-7C71-43CD-AE88-1635E0A4F3F1}" type="datetimeFigureOut">
              <a:rPr lang="zh-TW" altLang="en-US" smtClean="0"/>
              <a:t>2025/12/22</a:t>
            </a:fld>
            <a:endParaRPr lang="zh-TW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635D26-E40F-4EE0-A41E-EC414BEEEAB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6885470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625C2B-7C71-43CD-AE88-1635E0A4F3F1}" type="datetimeFigureOut">
              <a:rPr lang="zh-TW" altLang="en-US" smtClean="0"/>
              <a:t>2025/12/22</a:t>
            </a:fld>
            <a:endParaRPr lang="zh-TW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635D26-E40F-4EE0-A41E-EC414BEEEAB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81407471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768032"/>
            <a:ext cx="3932237" cy="2688114"/>
          </a:xfrm>
        </p:spPr>
        <p:txBody>
          <a:bodyPr anchor="b"/>
          <a:lstStyle>
            <a:lvl1pPr>
              <a:defRPr sz="4267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1658740"/>
            <a:ext cx="6172200" cy="8187013"/>
          </a:xfrm>
        </p:spPr>
        <p:txBody>
          <a:bodyPr/>
          <a:lstStyle>
            <a:lvl1pPr>
              <a:defRPr sz="4267"/>
            </a:lvl1pPr>
            <a:lvl2pPr>
              <a:defRPr sz="3733"/>
            </a:lvl2pPr>
            <a:lvl3pPr>
              <a:defRPr sz="3200"/>
            </a:lvl3pPr>
            <a:lvl4pPr>
              <a:defRPr sz="2667"/>
            </a:lvl4pPr>
            <a:lvl5pPr>
              <a:defRPr sz="2667"/>
            </a:lvl5pPr>
            <a:lvl6pPr>
              <a:defRPr sz="2667"/>
            </a:lvl6pPr>
            <a:lvl7pPr>
              <a:defRPr sz="2667"/>
            </a:lvl7pPr>
            <a:lvl8pPr>
              <a:defRPr sz="2667"/>
            </a:lvl8pPr>
            <a:lvl9pPr>
              <a:defRPr sz="2667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3456146"/>
            <a:ext cx="3932237" cy="6402939"/>
          </a:xfrm>
        </p:spPr>
        <p:txBody>
          <a:bodyPr/>
          <a:lstStyle>
            <a:lvl1pPr marL="0" indent="0">
              <a:buNone/>
              <a:defRPr sz="2133"/>
            </a:lvl1pPr>
            <a:lvl2pPr marL="609585" indent="0">
              <a:buNone/>
              <a:defRPr sz="1867"/>
            </a:lvl2pPr>
            <a:lvl3pPr marL="1219170" indent="0">
              <a:buNone/>
              <a:defRPr sz="1600"/>
            </a:lvl3pPr>
            <a:lvl4pPr marL="1828754" indent="0">
              <a:buNone/>
              <a:defRPr sz="1333"/>
            </a:lvl4pPr>
            <a:lvl5pPr marL="2438339" indent="0">
              <a:buNone/>
              <a:defRPr sz="1333"/>
            </a:lvl5pPr>
            <a:lvl6pPr marL="3047924" indent="0">
              <a:buNone/>
              <a:defRPr sz="1333"/>
            </a:lvl6pPr>
            <a:lvl7pPr marL="3657509" indent="0">
              <a:buNone/>
              <a:defRPr sz="1333"/>
            </a:lvl7pPr>
            <a:lvl8pPr marL="4267093" indent="0">
              <a:buNone/>
              <a:defRPr sz="1333"/>
            </a:lvl8pPr>
            <a:lvl9pPr marL="4876678" indent="0">
              <a:buNone/>
              <a:defRPr sz="1333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625C2B-7C71-43CD-AE88-1635E0A4F3F1}" type="datetimeFigureOut">
              <a:rPr lang="zh-TW" altLang="en-US" smtClean="0"/>
              <a:t>2025/12/22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635D26-E40F-4EE0-A41E-EC414BEEEAB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2036895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768032"/>
            <a:ext cx="3932237" cy="2688114"/>
          </a:xfrm>
        </p:spPr>
        <p:txBody>
          <a:bodyPr anchor="b"/>
          <a:lstStyle>
            <a:lvl1pPr>
              <a:defRPr sz="4267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1658740"/>
            <a:ext cx="6172200" cy="8187013"/>
          </a:xfrm>
        </p:spPr>
        <p:txBody>
          <a:bodyPr anchor="t"/>
          <a:lstStyle>
            <a:lvl1pPr marL="0" indent="0">
              <a:buNone/>
              <a:defRPr sz="4267"/>
            </a:lvl1pPr>
            <a:lvl2pPr marL="609585" indent="0">
              <a:buNone/>
              <a:defRPr sz="3733"/>
            </a:lvl2pPr>
            <a:lvl3pPr marL="1219170" indent="0">
              <a:buNone/>
              <a:defRPr sz="3200"/>
            </a:lvl3pPr>
            <a:lvl4pPr marL="1828754" indent="0">
              <a:buNone/>
              <a:defRPr sz="2667"/>
            </a:lvl4pPr>
            <a:lvl5pPr marL="2438339" indent="0">
              <a:buNone/>
              <a:defRPr sz="2667"/>
            </a:lvl5pPr>
            <a:lvl6pPr marL="3047924" indent="0">
              <a:buNone/>
              <a:defRPr sz="2667"/>
            </a:lvl6pPr>
            <a:lvl7pPr marL="3657509" indent="0">
              <a:buNone/>
              <a:defRPr sz="2667"/>
            </a:lvl7pPr>
            <a:lvl8pPr marL="4267093" indent="0">
              <a:buNone/>
              <a:defRPr sz="2667"/>
            </a:lvl8pPr>
            <a:lvl9pPr marL="4876678" indent="0">
              <a:buNone/>
              <a:defRPr sz="2667"/>
            </a:lvl9pPr>
          </a:lstStyle>
          <a:p>
            <a:r>
              <a:rPr lang="zh-TW" altLang="en-US"/>
              <a:t>按一下圖示以新增圖片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3456146"/>
            <a:ext cx="3932237" cy="6402939"/>
          </a:xfrm>
        </p:spPr>
        <p:txBody>
          <a:bodyPr/>
          <a:lstStyle>
            <a:lvl1pPr marL="0" indent="0">
              <a:buNone/>
              <a:defRPr sz="2133"/>
            </a:lvl1pPr>
            <a:lvl2pPr marL="609585" indent="0">
              <a:buNone/>
              <a:defRPr sz="1867"/>
            </a:lvl2pPr>
            <a:lvl3pPr marL="1219170" indent="0">
              <a:buNone/>
              <a:defRPr sz="1600"/>
            </a:lvl3pPr>
            <a:lvl4pPr marL="1828754" indent="0">
              <a:buNone/>
              <a:defRPr sz="1333"/>
            </a:lvl4pPr>
            <a:lvl5pPr marL="2438339" indent="0">
              <a:buNone/>
              <a:defRPr sz="1333"/>
            </a:lvl5pPr>
            <a:lvl6pPr marL="3047924" indent="0">
              <a:buNone/>
              <a:defRPr sz="1333"/>
            </a:lvl6pPr>
            <a:lvl7pPr marL="3657509" indent="0">
              <a:buNone/>
              <a:defRPr sz="1333"/>
            </a:lvl7pPr>
            <a:lvl8pPr marL="4267093" indent="0">
              <a:buNone/>
              <a:defRPr sz="1333"/>
            </a:lvl8pPr>
            <a:lvl9pPr marL="4876678" indent="0">
              <a:buNone/>
              <a:defRPr sz="1333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625C2B-7C71-43CD-AE88-1635E0A4F3F1}" type="datetimeFigureOut">
              <a:rPr lang="zh-TW" altLang="en-US" smtClean="0"/>
              <a:t>2025/12/22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635D26-E40F-4EE0-A41E-EC414BEEEAB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20186950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625C2B-7C71-43CD-AE88-1635E0A4F3F1}" type="datetimeFigureOut">
              <a:rPr lang="zh-TW" altLang="en-US" smtClean="0"/>
              <a:t>2025/12/22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635D26-E40F-4EE0-A41E-EC414BEEEAB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2737293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1" y="613359"/>
            <a:ext cx="2628900" cy="9763081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1" y="613359"/>
            <a:ext cx="7734300" cy="9763081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625C2B-7C71-43CD-AE88-1635E0A4F3F1}" type="datetimeFigureOut">
              <a:rPr lang="zh-TW" altLang="en-US" smtClean="0"/>
              <a:t>2025/12/22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635D26-E40F-4EE0-A41E-EC414BEEEAB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94898305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613362"/>
            <a:ext cx="10515600" cy="222676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3066796"/>
            <a:ext cx="10515600" cy="730964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10677788"/>
            <a:ext cx="2743200" cy="61335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6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3625C2B-7C71-43CD-AE88-1635E0A4F3F1}" type="datetimeFigureOut">
              <a:rPr lang="zh-TW" altLang="en-US" smtClean="0"/>
              <a:t>2025/12/22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10677788"/>
            <a:ext cx="4114800" cy="61335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6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10677788"/>
            <a:ext cx="2743200" cy="61335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7635D26-E40F-4EE0-A41E-EC414BEEEAB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6315635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1219170" rtl="0" eaLnBrk="1" latinLnBrk="0" hangingPunct="1">
        <a:lnSpc>
          <a:spcPct val="90000"/>
        </a:lnSpc>
        <a:spcBef>
          <a:spcPct val="0"/>
        </a:spcBef>
        <a:buNone/>
        <a:defRPr sz="586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04792" indent="-304792" algn="l" defTabSz="1219170" rtl="0" eaLnBrk="1" latinLnBrk="0" hangingPunct="1">
        <a:lnSpc>
          <a:spcPct val="90000"/>
        </a:lnSpc>
        <a:spcBef>
          <a:spcPts val="1333"/>
        </a:spcBef>
        <a:buFont typeface="Arial" panose="020B0604020202020204" pitchFamily="34" charset="0"/>
        <a:buChar char="•"/>
        <a:defRPr sz="3733" kern="1200">
          <a:solidFill>
            <a:schemeClr val="tx1"/>
          </a:solidFill>
          <a:latin typeface="+mn-lt"/>
          <a:ea typeface="+mn-ea"/>
          <a:cs typeface="+mn-cs"/>
        </a:defRPr>
      </a:lvl1pPr>
      <a:lvl2pPr marL="914377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2pPr>
      <a:lvl3pPr marL="1523962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3pPr>
      <a:lvl4pPr marL="2133547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743131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352716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962301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571886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5181470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85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7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92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50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093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678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字方塊 1">
            <a:extLst>
              <a:ext uri="{FF2B5EF4-FFF2-40B4-BE49-F238E27FC236}">
                <a16:creationId xmlns:a16="http://schemas.microsoft.com/office/drawing/2014/main" id="{72431AEC-2436-1053-4BA1-DF20A2164647}"/>
              </a:ext>
            </a:extLst>
          </p:cNvPr>
          <p:cNvSpPr txBox="1"/>
          <p:nvPr/>
        </p:nvSpPr>
        <p:spPr>
          <a:xfrm>
            <a:off x="155575" y="319314"/>
            <a:ext cx="930774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3600" b="1" dirty="0">
                <a:solidFill>
                  <a:schemeClr val="bg2">
                    <a:lumMod val="25000"/>
                  </a:schemeClr>
                </a:solidFill>
              </a:rPr>
              <a:t>Robust Mathematical Symbol Recognition via Metric-Based Template Matching</a:t>
            </a:r>
            <a:endParaRPr lang="zh-TW" altLang="en-US" sz="3600" b="1" dirty="0">
              <a:solidFill>
                <a:schemeClr val="bg2">
                  <a:lumMod val="25000"/>
                </a:schemeClr>
              </a:solidFill>
            </a:endParaRP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BE899B68-5ED5-C8DF-AB5E-FABB2EF042DE}"/>
              </a:ext>
            </a:extLst>
          </p:cNvPr>
          <p:cNvSpPr txBox="1"/>
          <p:nvPr/>
        </p:nvSpPr>
        <p:spPr>
          <a:xfrm>
            <a:off x="155575" y="1651575"/>
            <a:ext cx="528076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2000" dirty="0">
                <a:solidFill>
                  <a:schemeClr val="bg2">
                    <a:lumMod val="25000"/>
                  </a:schemeClr>
                </a:solidFill>
              </a:rPr>
              <a:t>Yu-Hsiang Chan, Kuan-Ting Wu, Hui-Yu Chou</a:t>
            </a:r>
            <a:endParaRPr lang="zh-TW" altLang="en-US" sz="2000" dirty="0">
              <a:solidFill>
                <a:schemeClr val="bg2">
                  <a:lumMod val="25000"/>
                </a:schemeClr>
              </a:solidFill>
            </a:endParaRPr>
          </a:p>
        </p:txBody>
      </p:sp>
      <p:grpSp>
        <p:nvGrpSpPr>
          <p:cNvPr id="6" name="群組 5">
            <a:extLst>
              <a:ext uri="{FF2B5EF4-FFF2-40B4-BE49-F238E27FC236}">
                <a16:creationId xmlns:a16="http://schemas.microsoft.com/office/drawing/2014/main" id="{F2F7708D-0CC2-7DAA-F8D4-0B632900A582}"/>
              </a:ext>
            </a:extLst>
          </p:cNvPr>
          <p:cNvGrpSpPr/>
          <p:nvPr/>
        </p:nvGrpSpPr>
        <p:grpSpPr>
          <a:xfrm>
            <a:off x="261258" y="2183617"/>
            <a:ext cx="4056741" cy="7424840"/>
            <a:chOff x="449943" y="2183617"/>
            <a:chExt cx="3860800" cy="9017556"/>
          </a:xfrm>
        </p:grpSpPr>
        <p:sp>
          <p:nvSpPr>
            <p:cNvPr id="3" name="矩形 2">
              <a:extLst>
                <a:ext uri="{FF2B5EF4-FFF2-40B4-BE49-F238E27FC236}">
                  <a16:creationId xmlns:a16="http://schemas.microsoft.com/office/drawing/2014/main" id="{C84419CA-5502-DC0E-25E3-AE44F52B8926}"/>
                </a:ext>
              </a:extLst>
            </p:cNvPr>
            <p:cNvSpPr/>
            <p:nvPr/>
          </p:nvSpPr>
          <p:spPr>
            <a:xfrm>
              <a:off x="449943" y="2845611"/>
              <a:ext cx="3860800" cy="835556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285750" indent="-285750">
                <a:buFont typeface="Arial" panose="020B0604020202020204" pitchFamily="34" charset="0"/>
                <a:buChar char="•"/>
              </a:pPr>
              <a:endParaRPr lang="en-US" altLang="zh-TW" dirty="0">
                <a:solidFill>
                  <a:schemeClr val="bg2">
                    <a:lumMod val="25000"/>
                  </a:schemeClr>
                </a:solidFill>
              </a:endParaRPr>
            </a:p>
          </p:txBody>
        </p:sp>
        <p:sp>
          <p:nvSpPr>
            <p:cNvPr id="5" name="矩形 4">
              <a:extLst>
                <a:ext uri="{FF2B5EF4-FFF2-40B4-BE49-F238E27FC236}">
                  <a16:creationId xmlns:a16="http://schemas.microsoft.com/office/drawing/2014/main" id="{EFA326DB-077B-A5A0-3C8B-8BA513FD3A93}"/>
                </a:ext>
              </a:extLst>
            </p:cNvPr>
            <p:cNvSpPr/>
            <p:nvPr/>
          </p:nvSpPr>
          <p:spPr>
            <a:xfrm>
              <a:off x="449943" y="2183617"/>
              <a:ext cx="3860800" cy="661994"/>
            </a:xfrm>
            <a:prstGeom prst="rect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altLang="zh-TW" sz="2400" b="1" dirty="0">
                  <a:latin typeface="Microsoft YaHei Light" panose="020B0502040204020203" pitchFamily="34" charset="-122"/>
                  <a:ea typeface="Microsoft YaHei Light" panose="020B0502040204020203" pitchFamily="34" charset="-122"/>
                </a:rPr>
                <a:t>①</a:t>
              </a:r>
              <a:r>
                <a:rPr lang="en-US" altLang="zh-TW" sz="2400" b="1" dirty="0"/>
                <a:t> The Study</a:t>
              </a:r>
              <a:endParaRPr lang="zh-TW" altLang="en-US" sz="2400" b="1" dirty="0"/>
            </a:p>
          </p:txBody>
        </p:sp>
      </p:grpSp>
      <p:grpSp>
        <p:nvGrpSpPr>
          <p:cNvPr id="7" name="群組 6">
            <a:extLst>
              <a:ext uri="{FF2B5EF4-FFF2-40B4-BE49-F238E27FC236}">
                <a16:creationId xmlns:a16="http://schemas.microsoft.com/office/drawing/2014/main" id="{1407B72C-E861-4FA9-092F-0DC1AC06E75A}"/>
              </a:ext>
            </a:extLst>
          </p:cNvPr>
          <p:cNvGrpSpPr/>
          <p:nvPr/>
        </p:nvGrpSpPr>
        <p:grpSpPr>
          <a:xfrm>
            <a:off x="4579258" y="2183617"/>
            <a:ext cx="7351482" cy="6211082"/>
            <a:chOff x="449943" y="2183616"/>
            <a:chExt cx="3860800" cy="9731015"/>
          </a:xfrm>
        </p:grpSpPr>
        <p:sp>
          <p:nvSpPr>
            <p:cNvPr id="8" name="矩形 7">
              <a:extLst>
                <a:ext uri="{FF2B5EF4-FFF2-40B4-BE49-F238E27FC236}">
                  <a16:creationId xmlns:a16="http://schemas.microsoft.com/office/drawing/2014/main" id="{DAEF2CD1-8D90-FB24-6A81-6CE4B6C9BA27}"/>
                </a:ext>
              </a:extLst>
            </p:cNvPr>
            <p:cNvSpPr/>
            <p:nvPr/>
          </p:nvSpPr>
          <p:spPr>
            <a:xfrm>
              <a:off x="449943" y="3017175"/>
              <a:ext cx="3860800" cy="889745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 lang="zh-TW" altLang="en-US" dirty="0"/>
            </a:p>
          </p:txBody>
        </p:sp>
        <p:sp>
          <p:nvSpPr>
            <p:cNvPr id="9" name="矩形 8">
              <a:extLst>
                <a:ext uri="{FF2B5EF4-FFF2-40B4-BE49-F238E27FC236}">
                  <a16:creationId xmlns:a16="http://schemas.microsoft.com/office/drawing/2014/main" id="{47969D67-3701-B51C-9E4B-11B5480D5626}"/>
                </a:ext>
              </a:extLst>
            </p:cNvPr>
            <p:cNvSpPr/>
            <p:nvPr/>
          </p:nvSpPr>
          <p:spPr>
            <a:xfrm>
              <a:off x="449943" y="2183616"/>
              <a:ext cx="3860800" cy="853971"/>
            </a:xfrm>
            <a:prstGeom prst="rect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altLang="zh-TW" sz="2400" b="1" dirty="0">
                  <a:latin typeface="Microsoft YaHei Light" panose="020B0502040204020203" pitchFamily="34" charset="-122"/>
                  <a:ea typeface="Microsoft YaHei Light" panose="020B0502040204020203" pitchFamily="34" charset="-122"/>
                </a:rPr>
                <a:t>②</a:t>
              </a:r>
              <a:r>
                <a:rPr lang="en-US" altLang="zh-TW" sz="2400" b="1" dirty="0"/>
                <a:t> Findings</a:t>
              </a:r>
              <a:endParaRPr lang="zh-TW" altLang="en-US" sz="2400" b="1" dirty="0"/>
            </a:p>
          </p:txBody>
        </p:sp>
      </p:grpSp>
      <p:grpSp>
        <p:nvGrpSpPr>
          <p:cNvPr id="17" name="群組 16">
            <a:extLst>
              <a:ext uri="{FF2B5EF4-FFF2-40B4-BE49-F238E27FC236}">
                <a16:creationId xmlns:a16="http://schemas.microsoft.com/office/drawing/2014/main" id="{DD73C98C-BE0D-EB68-4AC2-71C9256FE8B1}"/>
              </a:ext>
            </a:extLst>
          </p:cNvPr>
          <p:cNvGrpSpPr/>
          <p:nvPr/>
        </p:nvGrpSpPr>
        <p:grpSpPr>
          <a:xfrm>
            <a:off x="4579256" y="8544657"/>
            <a:ext cx="7351481" cy="2847242"/>
            <a:chOff x="4579256" y="8544657"/>
            <a:chExt cx="7351485" cy="2847242"/>
          </a:xfrm>
        </p:grpSpPr>
        <p:sp>
          <p:nvSpPr>
            <p:cNvPr id="11" name="矩形 10">
              <a:extLst>
                <a:ext uri="{FF2B5EF4-FFF2-40B4-BE49-F238E27FC236}">
                  <a16:creationId xmlns:a16="http://schemas.microsoft.com/office/drawing/2014/main" id="{0C46CB40-49C5-AF9E-09CA-AAC35DD99751}"/>
                </a:ext>
              </a:extLst>
            </p:cNvPr>
            <p:cNvSpPr/>
            <p:nvPr/>
          </p:nvSpPr>
          <p:spPr>
            <a:xfrm>
              <a:off x="4579256" y="9102426"/>
              <a:ext cx="7351485" cy="2289473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  <p:sp>
          <p:nvSpPr>
            <p:cNvPr id="16" name="矩形 15">
              <a:extLst>
                <a:ext uri="{FF2B5EF4-FFF2-40B4-BE49-F238E27FC236}">
                  <a16:creationId xmlns:a16="http://schemas.microsoft.com/office/drawing/2014/main" id="{F3AE8A56-27D7-17B2-8493-C279601CBFE8}"/>
                </a:ext>
              </a:extLst>
            </p:cNvPr>
            <p:cNvSpPr/>
            <p:nvPr/>
          </p:nvSpPr>
          <p:spPr>
            <a:xfrm>
              <a:off x="4579256" y="8544657"/>
              <a:ext cx="7351485" cy="545070"/>
            </a:xfrm>
            <a:prstGeom prst="rect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altLang="zh-TW" sz="2400" b="1" dirty="0">
                  <a:latin typeface="Microsoft YaHei Light" panose="020B0502040204020203" pitchFamily="34" charset="-122"/>
                  <a:ea typeface="Microsoft YaHei Light" panose="020B0502040204020203" pitchFamily="34" charset="-122"/>
                </a:rPr>
                <a:t>③</a:t>
              </a:r>
              <a:r>
                <a:rPr lang="en-US" altLang="zh-TW" sz="2400" b="1" dirty="0"/>
                <a:t> Research in context</a:t>
              </a:r>
              <a:endParaRPr lang="zh-TW" altLang="en-US" sz="2400" b="1" dirty="0"/>
            </a:p>
          </p:txBody>
        </p:sp>
      </p:grpSp>
      <p:pic>
        <p:nvPicPr>
          <p:cNvPr id="1028" name="Picture 4" descr="Warning-Sign Icons - Free SVG &amp; PNG Warning-Sign Images - Noun Project">
            <a:extLst>
              <a:ext uri="{FF2B5EF4-FFF2-40B4-BE49-F238E27FC236}">
                <a16:creationId xmlns:a16="http://schemas.microsoft.com/office/drawing/2014/main" id="{F0297B1B-FB8F-10EE-2B82-517BC6ED54D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1258" y="9868913"/>
            <a:ext cx="395740" cy="3957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1" name="文字方塊 20">
            <a:extLst>
              <a:ext uri="{FF2B5EF4-FFF2-40B4-BE49-F238E27FC236}">
                <a16:creationId xmlns:a16="http://schemas.microsoft.com/office/drawing/2014/main" id="{270E1876-A214-BD18-63EA-6F2909D4B276}"/>
              </a:ext>
            </a:extLst>
          </p:cNvPr>
          <p:cNvSpPr txBox="1"/>
          <p:nvPr/>
        </p:nvSpPr>
        <p:spPr>
          <a:xfrm>
            <a:off x="656998" y="9723846"/>
            <a:ext cx="3800702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b="1" dirty="0">
                <a:solidFill>
                  <a:schemeClr val="bg2">
                    <a:lumMod val="25000"/>
                  </a:schemeClr>
                </a:solidFill>
              </a:rPr>
              <a:t>Key limitation: </a:t>
            </a:r>
            <a:r>
              <a:rPr lang="en-US" altLang="zh-TW" dirty="0">
                <a:solidFill>
                  <a:schemeClr val="bg2">
                    <a:lumMod val="50000"/>
                  </a:schemeClr>
                </a:solidFill>
              </a:rPr>
              <a:t>Sensitive to poor image quality, rotation, and noise, and template matching does not scale efficiently to larger symbol libraries without advanced indexing.</a:t>
            </a:r>
            <a:endParaRPr lang="zh-TW" altLang="en-US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23" name="文字方塊 22">
            <a:extLst>
              <a:ext uri="{FF2B5EF4-FFF2-40B4-BE49-F238E27FC236}">
                <a16:creationId xmlns:a16="http://schemas.microsoft.com/office/drawing/2014/main" id="{02982B62-4061-D85C-C0CC-DD6560A6D493}"/>
              </a:ext>
            </a:extLst>
          </p:cNvPr>
          <p:cNvSpPr txBox="1"/>
          <p:nvPr/>
        </p:nvSpPr>
        <p:spPr>
          <a:xfrm>
            <a:off x="181881" y="2800701"/>
            <a:ext cx="48577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dirty="0">
                <a:solidFill>
                  <a:schemeClr val="bg2">
                    <a:lumMod val="25000"/>
                  </a:schemeClr>
                </a:solidFill>
              </a:rPr>
              <a:t>🧩</a:t>
            </a:r>
            <a:endParaRPr lang="zh-TW" altLang="en-US" dirty="0"/>
          </a:p>
        </p:txBody>
      </p:sp>
      <p:sp>
        <p:nvSpPr>
          <p:cNvPr id="25" name="文字方塊 24">
            <a:extLst>
              <a:ext uri="{FF2B5EF4-FFF2-40B4-BE49-F238E27FC236}">
                <a16:creationId xmlns:a16="http://schemas.microsoft.com/office/drawing/2014/main" id="{173FBAA4-B581-7CC1-A461-7507DBCDAB5C}"/>
              </a:ext>
            </a:extLst>
          </p:cNvPr>
          <p:cNvSpPr txBox="1"/>
          <p:nvPr/>
        </p:nvSpPr>
        <p:spPr>
          <a:xfrm>
            <a:off x="555398" y="2797119"/>
            <a:ext cx="3762601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b="1" dirty="0">
                <a:solidFill>
                  <a:schemeClr val="bg2">
                    <a:lumMod val="25000"/>
                  </a:schemeClr>
                </a:solidFill>
              </a:rPr>
              <a:t>Problem:</a:t>
            </a:r>
            <a:r>
              <a:rPr lang="en-US" altLang="zh-TW" dirty="0">
                <a:solidFill>
                  <a:schemeClr val="bg2">
                    <a:lumMod val="25000"/>
                  </a:schemeClr>
                </a:solidFill>
              </a:rPr>
              <a:t> </a:t>
            </a:r>
            <a:r>
              <a:rPr lang="en-US" altLang="zh-TW" dirty="0">
                <a:solidFill>
                  <a:schemeClr val="bg2">
                    <a:lumMod val="50000"/>
                  </a:schemeClr>
                </a:solidFill>
              </a:rPr>
              <a:t>Converting math images to LaTeX is hard due to 2D structure, fragmented symbols, and large character sets. Classical CCA fails when strokes break (e.g., ∫) or multi-part glyphs separate (e.g.</a:t>
            </a:r>
            <a:r>
              <a:rPr lang="zh-TW" altLang="en-US" dirty="0">
                <a:solidFill>
                  <a:schemeClr val="bg2">
                    <a:lumMod val="50000"/>
                  </a:schemeClr>
                </a:solidFill>
              </a:rPr>
              <a:t> </a:t>
            </a:r>
            <a:r>
              <a:rPr lang="en-US" altLang="zh-TW" dirty="0" err="1">
                <a:solidFill>
                  <a:schemeClr val="bg2">
                    <a:lumMod val="50000"/>
                  </a:schemeClr>
                </a:solidFill>
                <a:latin typeface="Monotype Corsiva" panose="03010101010201010101" pitchFamily="66" charset="0"/>
              </a:rPr>
              <a:t>i</a:t>
            </a:r>
            <a:r>
              <a:rPr lang="en-US" altLang="zh-TW" dirty="0">
                <a:solidFill>
                  <a:schemeClr val="bg2">
                    <a:lumMod val="50000"/>
                  </a:schemeClr>
                </a:solidFill>
              </a:rPr>
              <a:t>, ÷, ≈).</a:t>
            </a:r>
          </a:p>
          <a:p>
            <a:endParaRPr lang="zh-TW" altLang="en-US" dirty="0"/>
          </a:p>
        </p:txBody>
      </p:sp>
      <p:sp>
        <p:nvSpPr>
          <p:cNvPr id="27" name="文字方塊 26">
            <a:extLst>
              <a:ext uri="{FF2B5EF4-FFF2-40B4-BE49-F238E27FC236}">
                <a16:creationId xmlns:a16="http://schemas.microsoft.com/office/drawing/2014/main" id="{3D49A695-3965-5C23-7496-1254D70E4B5C}"/>
              </a:ext>
            </a:extLst>
          </p:cNvPr>
          <p:cNvSpPr txBox="1"/>
          <p:nvPr/>
        </p:nvSpPr>
        <p:spPr>
          <a:xfrm>
            <a:off x="555398" y="4536409"/>
            <a:ext cx="3762601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b="1" dirty="0">
                <a:solidFill>
                  <a:schemeClr val="bg2">
                    <a:lumMod val="25000"/>
                  </a:schemeClr>
                </a:solidFill>
              </a:rPr>
              <a:t>Solution:</a:t>
            </a:r>
            <a:r>
              <a:rPr lang="en-US" altLang="zh-TW" dirty="0">
                <a:solidFill>
                  <a:schemeClr val="bg2">
                    <a:lumMod val="25000"/>
                  </a:schemeClr>
                </a:solidFill>
              </a:rPr>
              <a:t> </a:t>
            </a:r>
            <a:r>
              <a:rPr lang="en-US" altLang="zh-TW" dirty="0">
                <a:solidFill>
                  <a:schemeClr val="bg2">
                    <a:lumMod val="50000"/>
                  </a:schemeClr>
                </a:solidFill>
              </a:rPr>
              <a:t>An </a:t>
            </a:r>
            <a:r>
              <a:rPr lang="en-US" altLang="zh-TW" i="1" u="sng" dirty="0">
                <a:solidFill>
                  <a:schemeClr val="bg2">
                    <a:lumMod val="50000"/>
                  </a:schemeClr>
                </a:solidFill>
              </a:rPr>
              <a:t>Adaptive Recursive Clustering</a:t>
            </a:r>
            <a:r>
              <a:rPr lang="en-US" altLang="zh-TW" i="1" dirty="0">
                <a:solidFill>
                  <a:schemeClr val="bg2">
                    <a:lumMod val="50000"/>
                  </a:schemeClr>
                </a:solidFill>
              </a:rPr>
              <a:t> </a:t>
            </a:r>
            <a:r>
              <a:rPr lang="en-US" altLang="zh-TW" dirty="0">
                <a:solidFill>
                  <a:schemeClr val="bg2">
                    <a:lumMod val="50000"/>
                  </a:schemeClr>
                </a:solidFill>
              </a:rPr>
              <a:t>framework that re-groups components using recognition-driven feedback instead of static segmentation.</a:t>
            </a:r>
            <a:endParaRPr lang="zh-TW" altLang="en-US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29" name="文字方塊 28">
            <a:extLst>
              <a:ext uri="{FF2B5EF4-FFF2-40B4-BE49-F238E27FC236}">
                <a16:creationId xmlns:a16="http://schemas.microsoft.com/office/drawing/2014/main" id="{9CC021F6-A4B2-A4BE-D985-308099F9B889}"/>
              </a:ext>
            </a:extLst>
          </p:cNvPr>
          <p:cNvSpPr txBox="1"/>
          <p:nvPr/>
        </p:nvSpPr>
        <p:spPr>
          <a:xfrm>
            <a:off x="555398" y="5995231"/>
            <a:ext cx="3762601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b="1" dirty="0">
                <a:solidFill>
                  <a:schemeClr val="bg2">
                    <a:lumMod val="25000"/>
                  </a:schemeClr>
                </a:solidFill>
              </a:rPr>
              <a:t>Core Theory:</a:t>
            </a:r>
            <a:r>
              <a:rPr lang="en-US" altLang="zh-TW" dirty="0">
                <a:solidFill>
                  <a:schemeClr val="bg2">
                    <a:lumMod val="25000"/>
                  </a:schemeClr>
                </a:solidFill>
              </a:rPr>
              <a:t> </a:t>
            </a:r>
            <a:r>
              <a:rPr lang="en-US" altLang="zh-TW" dirty="0">
                <a:solidFill>
                  <a:schemeClr val="bg2">
                    <a:lumMod val="50000"/>
                  </a:schemeClr>
                </a:solidFill>
              </a:rPr>
              <a:t>Similarity is evaluated in a normalized metric space using </a:t>
            </a:r>
            <a:r>
              <a:rPr lang="en-US" altLang="zh-TW" i="1" dirty="0">
                <a:solidFill>
                  <a:schemeClr val="bg2">
                    <a:lumMod val="50000"/>
                  </a:schemeClr>
                </a:solidFill>
              </a:rPr>
              <a:t>L2</a:t>
            </a:r>
            <a:r>
              <a:rPr lang="en-US" altLang="zh-TW" dirty="0">
                <a:solidFill>
                  <a:schemeClr val="bg2">
                    <a:lumMod val="50000"/>
                  </a:schemeClr>
                </a:solidFill>
              </a:rPr>
              <a:t>, </a:t>
            </a:r>
            <a:r>
              <a:rPr lang="en-US" altLang="zh-TW" i="1" dirty="0" err="1">
                <a:solidFill>
                  <a:schemeClr val="bg2">
                    <a:lumMod val="50000"/>
                  </a:schemeClr>
                </a:solidFill>
              </a:rPr>
              <a:t>Hausdorff</a:t>
            </a:r>
            <a:r>
              <a:rPr lang="en-US" altLang="zh-TW" dirty="0">
                <a:solidFill>
                  <a:schemeClr val="bg2">
                    <a:lumMod val="50000"/>
                  </a:schemeClr>
                </a:solidFill>
              </a:rPr>
              <a:t>, and </a:t>
            </a:r>
            <a:r>
              <a:rPr lang="en-US" altLang="zh-TW" i="1" dirty="0">
                <a:solidFill>
                  <a:schemeClr val="bg2">
                    <a:lumMod val="50000"/>
                  </a:schemeClr>
                </a:solidFill>
              </a:rPr>
              <a:t>Chamfer</a:t>
            </a:r>
            <a:r>
              <a:rPr lang="en-US" altLang="zh-TW" dirty="0">
                <a:solidFill>
                  <a:schemeClr val="bg2">
                    <a:lumMod val="50000"/>
                  </a:schemeClr>
                </a:solidFill>
              </a:rPr>
              <a:t> measures.</a:t>
            </a:r>
          </a:p>
        </p:txBody>
      </p:sp>
      <p:sp>
        <p:nvSpPr>
          <p:cNvPr id="31" name="文字方塊 30">
            <a:extLst>
              <a:ext uri="{FF2B5EF4-FFF2-40B4-BE49-F238E27FC236}">
                <a16:creationId xmlns:a16="http://schemas.microsoft.com/office/drawing/2014/main" id="{36D0F96A-4806-ACE2-CC60-BA3CB8DAFBF6}"/>
              </a:ext>
            </a:extLst>
          </p:cNvPr>
          <p:cNvSpPr txBox="1"/>
          <p:nvPr/>
        </p:nvSpPr>
        <p:spPr>
          <a:xfrm>
            <a:off x="555398" y="7150789"/>
            <a:ext cx="3762601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b="1" dirty="0">
                <a:solidFill>
                  <a:schemeClr val="bg2">
                    <a:lumMod val="25000"/>
                  </a:schemeClr>
                </a:solidFill>
              </a:rPr>
              <a:t>Gap:</a:t>
            </a:r>
            <a:r>
              <a:rPr lang="en-US" altLang="zh-TW" dirty="0">
                <a:solidFill>
                  <a:schemeClr val="bg2">
                    <a:lumMod val="25000"/>
                  </a:schemeClr>
                </a:solidFill>
              </a:rPr>
              <a:t> </a:t>
            </a:r>
            <a:r>
              <a:rPr lang="en-US" altLang="zh-TW" dirty="0">
                <a:solidFill>
                  <a:schemeClr val="bg2">
                    <a:lumMod val="50000"/>
                  </a:schemeClr>
                </a:solidFill>
              </a:rPr>
              <a:t>Little research compares these metrics inside a recursive clustering loop.</a:t>
            </a:r>
          </a:p>
        </p:txBody>
      </p:sp>
      <p:sp>
        <p:nvSpPr>
          <p:cNvPr id="33" name="文字方塊 32">
            <a:extLst>
              <a:ext uri="{FF2B5EF4-FFF2-40B4-BE49-F238E27FC236}">
                <a16:creationId xmlns:a16="http://schemas.microsoft.com/office/drawing/2014/main" id="{453CF3AD-E9AF-0EF8-3D61-C68C6241417F}"/>
              </a:ext>
            </a:extLst>
          </p:cNvPr>
          <p:cNvSpPr txBox="1"/>
          <p:nvPr/>
        </p:nvSpPr>
        <p:spPr>
          <a:xfrm>
            <a:off x="555398" y="8030364"/>
            <a:ext cx="3762601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b="1" dirty="0">
                <a:solidFill>
                  <a:schemeClr val="bg2">
                    <a:lumMod val="25000"/>
                  </a:schemeClr>
                </a:solidFill>
              </a:rPr>
              <a:t>Objective:</a:t>
            </a:r>
            <a:r>
              <a:rPr lang="en-US" altLang="zh-TW" dirty="0">
                <a:solidFill>
                  <a:schemeClr val="bg2">
                    <a:lumMod val="25000"/>
                  </a:schemeClr>
                </a:solidFill>
              </a:rPr>
              <a:t> </a:t>
            </a:r>
            <a:r>
              <a:rPr lang="en-US" altLang="zh-TW" dirty="0">
                <a:solidFill>
                  <a:schemeClr val="bg2">
                    <a:lumMod val="50000"/>
                  </a:schemeClr>
                </a:solidFill>
              </a:rPr>
              <a:t>Identify which metric best guides reconstruction of fragmented math symbols, with the hypothesis that </a:t>
            </a:r>
            <a:r>
              <a:rPr lang="en-US" altLang="zh-TW" i="1" dirty="0">
                <a:solidFill>
                  <a:schemeClr val="bg2">
                    <a:lumMod val="50000"/>
                  </a:schemeClr>
                </a:solidFill>
              </a:rPr>
              <a:t>Chamfer</a:t>
            </a:r>
            <a:r>
              <a:rPr lang="en-US" altLang="zh-TW" dirty="0">
                <a:solidFill>
                  <a:schemeClr val="bg2">
                    <a:lumMod val="50000"/>
                  </a:schemeClr>
                </a:solidFill>
              </a:rPr>
              <a:t> is most robust.</a:t>
            </a:r>
          </a:p>
        </p:txBody>
      </p:sp>
      <p:sp>
        <p:nvSpPr>
          <p:cNvPr id="35" name="文字方塊 34">
            <a:extLst>
              <a:ext uri="{FF2B5EF4-FFF2-40B4-BE49-F238E27FC236}">
                <a16:creationId xmlns:a16="http://schemas.microsoft.com/office/drawing/2014/main" id="{E740A735-921D-4D1F-E229-A5246C8F1A79}"/>
              </a:ext>
            </a:extLst>
          </p:cNvPr>
          <p:cNvSpPr txBox="1"/>
          <p:nvPr/>
        </p:nvSpPr>
        <p:spPr>
          <a:xfrm>
            <a:off x="181881" y="4536258"/>
            <a:ext cx="49847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dirty="0">
                <a:solidFill>
                  <a:schemeClr val="bg2">
                    <a:lumMod val="25000"/>
                  </a:schemeClr>
                </a:solidFill>
              </a:rPr>
              <a:t>⚙️</a:t>
            </a:r>
            <a:endParaRPr lang="zh-TW" altLang="en-US" dirty="0"/>
          </a:p>
        </p:txBody>
      </p:sp>
      <p:sp>
        <p:nvSpPr>
          <p:cNvPr id="37" name="文字方塊 36">
            <a:extLst>
              <a:ext uri="{FF2B5EF4-FFF2-40B4-BE49-F238E27FC236}">
                <a16:creationId xmlns:a16="http://schemas.microsoft.com/office/drawing/2014/main" id="{FF858FDA-E042-C5D4-F702-7424D7E71330}"/>
              </a:ext>
            </a:extLst>
          </p:cNvPr>
          <p:cNvSpPr txBox="1"/>
          <p:nvPr/>
        </p:nvSpPr>
        <p:spPr>
          <a:xfrm>
            <a:off x="197190" y="6010003"/>
            <a:ext cx="52387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dirty="0">
                <a:solidFill>
                  <a:schemeClr val="bg2">
                    <a:lumMod val="25000"/>
                  </a:schemeClr>
                </a:solidFill>
              </a:rPr>
              <a:t>📐</a:t>
            </a:r>
            <a:endParaRPr lang="zh-TW" altLang="en-US" dirty="0"/>
          </a:p>
        </p:txBody>
      </p:sp>
      <p:sp>
        <p:nvSpPr>
          <p:cNvPr id="39" name="文字方塊 38">
            <a:extLst>
              <a:ext uri="{FF2B5EF4-FFF2-40B4-BE49-F238E27FC236}">
                <a16:creationId xmlns:a16="http://schemas.microsoft.com/office/drawing/2014/main" id="{8A400CF6-5F3F-0540-6306-657E2BDCF12E}"/>
              </a:ext>
            </a:extLst>
          </p:cNvPr>
          <p:cNvSpPr txBox="1"/>
          <p:nvPr/>
        </p:nvSpPr>
        <p:spPr>
          <a:xfrm>
            <a:off x="190839" y="7167824"/>
            <a:ext cx="48577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b="1" dirty="0">
                <a:solidFill>
                  <a:schemeClr val="bg2">
                    <a:lumMod val="25000"/>
                  </a:schemeClr>
                </a:solidFill>
              </a:rPr>
              <a:t>📚</a:t>
            </a:r>
            <a:endParaRPr lang="zh-TW" altLang="en-US" dirty="0"/>
          </a:p>
        </p:txBody>
      </p:sp>
      <p:sp>
        <p:nvSpPr>
          <p:cNvPr id="41" name="文字方塊 40">
            <a:extLst>
              <a:ext uri="{FF2B5EF4-FFF2-40B4-BE49-F238E27FC236}">
                <a16:creationId xmlns:a16="http://schemas.microsoft.com/office/drawing/2014/main" id="{CA4C3668-38ED-BD74-DB81-472844ACDA75}"/>
              </a:ext>
            </a:extLst>
          </p:cNvPr>
          <p:cNvSpPr txBox="1"/>
          <p:nvPr/>
        </p:nvSpPr>
        <p:spPr>
          <a:xfrm>
            <a:off x="197190" y="8025367"/>
            <a:ext cx="42227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dirty="0">
                <a:solidFill>
                  <a:schemeClr val="bg2">
                    <a:lumMod val="25000"/>
                  </a:schemeClr>
                </a:solidFill>
              </a:rPr>
              <a:t>🎯</a:t>
            </a:r>
            <a:endParaRPr lang="zh-TW" altLang="en-US" dirty="0"/>
          </a:p>
        </p:txBody>
      </p:sp>
      <p:pic>
        <p:nvPicPr>
          <p:cNvPr id="43" name="圖片 42" descr="一張含有 文字, 螢幕擷取畫面, 鮮豔, 繪圖 的圖片&#10;&#10;AI 產生的內容可能不正確。">
            <a:extLst>
              <a:ext uri="{FF2B5EF4-FFF2-40B4-BE49-F238E27FC236}">
                <a16:creationId xmlns:a16="http://schemas.microsoft.com/office/drawing/2014/main" id="{38E97E6D-DE22-5A56-CFFF-047A20A418A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40980" y="3584762"/>
            <a:ext cx="4315970" cy="2157987"/>
          </a:xfrm>
          <a:prstGeom prst="rect">
            <a:avLst/>
          </a:prstGeom>
        </p:spPr>
      </p:pic>
      <p:pic>
        <p:nvPicPr>
          <p:cNvPr id="45" name="圖片 44" descr="一張含有 文字, 螢幕擷取畫面, 圖表, 繪圖 的圖片&#10;&#10;AI 產生的內容可能不正確。">
            <a:extLst>
              <a:ext uri="{FF2B5EF4-FFF2-40B4-BE49-F238E27FC236}">
                <a16:creationId xmlns:a16="http://schemas.microsoft.com/office/drawing/2014/main" id="{7B09E3C5-10B8-062E-5317-38F67DB470F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57200" y="6010003"/>
            <a:ext cx="4315974" cy="2157987"/>
          </a:xfrm>
          <a:prstGeom prst="rect">
            <a:avLst/>
          </a:prstGeom>
        </p:spPr>
      </p:pic>
      <p:sp>
        <p:nvSpPr>
          <p:cNvPr id="49" name="文字方塊 48">
            <a:extLst>
              <a:ext uri="{FF2B5EF4-FFF2-40B4-BE49-F238E27FC236}">
                <a16:creationId xmlns:a16="http://schemas.microsoft.com/office/drawing/2014/main" id="{5BF6D18D-F785-A5FD-9150-05C2AD267810}"/>
              </a:ext>
            </a:extLst>
          </p:cNvPr>
          <p:cNvSpPr txBox="1"/>
          <p:nvPr/>
        </p:nvSpPr>
        <p:spPr>
          <a:xfrm>
            <a:off x="4627119" y="2799063"/>
            <a:ext cx="7351481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b="1" dirty="0">
                <a:solidFill>
                  <a:schemeClr val="bg2">
                    <a:lumMod val="50000"/>
                  </a:schemeClr>
                </a:solidFill>
              </a:rPr>
              <a:t>Hybrid metrics yield the best trade-off: L2 filters quickly, Chamfer handles fragmentation, and together they deliver higher accuracy with far lower latency.</a:t>
            </a:r>
            <a:endParaRPr lang="zh-TW" altLang="en-US" b="1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51" name="文字方塊 50">
            <a:extLst>
              <a:ext uri="{FF2B5EF4-FFF2-40B4-BE49-F238E27FC236}">
                <a16:creationId xmlns:a16="http://schemas.microsoft.com/office/drawing/2014/main" id="{C66863BA-9547-08B4-3226-3E8A52CA87A9}"/>
              </a:ext>
            </a:extLst>
          </p:cNvPr>
          <p:cNvSpPr txBox="1"/>
          <p:nvPr/>
        </p:nvSpPr>
        <p:spPr>
          <a:xfrm>
            <a:off x="5793120" y="5630353"/>
            <a:ext cx="454841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TW" altLang="en-US" sz="1600" dirty="0">
                <a:solidFill>
                  <a:schemeClr val="bg2">
                    <a:lumMod val="50000"/>
                  </a:schemeClr>
                </a:solidFill>
              </a:rPr>
              <a:t>L2 + Chamfer achieves the highest accuracy</a:t>
            </a:r>
          </a:p>
        </p:txBody>
      </p:sp>
      <p:sp>
        <p:nvSpPr>
          <p:cNvPr id="52" name="文字方塊 51">
            <a:extLst>
              <a:ext uri="{FF2B5EF4-FFF2-40B4-BE49-F238E27FC236}">
                <a16:creationId xmlns:a16="http://schemas.microsoft.com/office/drawing/2014/main" id="{A3A2B460-ACDA-7B43-2823-FEAFE073FF10}"/>
              </a:ext>
            </a:extLst>
          </p:cNvPr>
          <p:cNvSpPr txBox="1"/>
          <p:nvPr/>
        </p:nvSpPr>
        <p:spPr>
          <a:xfrm>
            <a:off x="5257980" y="8060386"/>
            <a:ext cx="608975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600" dirty="0">
                <a:solidFill>
                  <a:schemeClr val="bg2">
                    <a:lumMod val="50000"/>
                  </a:schemeClr>
                </a:solidFill>
              </a:rPr>
              <a:t>Hybrid metrics cut computation time by using L2 as a fast pre-filter</a:t>
            </a:r>
            <a:endParaRPr lang="zh-TW" altLang="en-US" sz="16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54" name="流程圖: 換頁接點 53">
            <a:extLst>
              <a:ext uri="{FF2B5EF4-FFF2-40B4-BE49-F238E27FC236}">
                <a16:creationId xmlns:a16="http://schemas.microsoft.com/office/drawing/2014/main" id="{D58C7A46-EE7D-63D6-B042-82085484C95C}"/>
              </a:ext>
            </a:extLst>
          </p:cNvPr>
          <p:cNvSpPr/>
          <p:nvPr/>
        </p:nvSpPr>
        <p:spPr>
          <a:xfrm rot="16200000">
            <a:off x="8092601" y="9399859"/>
            <a:ext cx="2211505" cy="1749551"/>
          </a:xfrm>
          <a:prstGeom prst="flowChartOffpageConnector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61" name="流程圖: 換頁接點 60">
            <a:extLst>
              <a:ext uri="{FF2B5EF4-FFF2-40B4-BE49-F238E27FC236}">
                <a16:creationId xmlns:a16="http://schemas.microsoft.com/office/drawing/2014/main" id="{47868171-85F0-59E3-9120-4AF49EF61EC2}"/>
              </a:ext>
            </a:extLst>
          </p:cNvPr>
          <p:cNvSpPr/>
          <p:nvPr/>
        </p:nvSpPr>
        <p:spPr>
          <a:xfrm rot="16200000">
            <a:off x="6928937" y="9405615"/>
            <a:ext cx="2223013" cy="1749551"/>
          </a:xfrm>
          <a:prstGeom prst="flowChartOffpageConnector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3" name="流程圖: 換頁接點 52">
            <a:extLst>
              <a:ext uri="{FF2B5EF4-FFF2-40B4-BE49-F238E27FC236}">
                <a16:creationId xmlns:a16="http://schemas.microsoft.com/office/drawing/2014/main" id="{E016288B-A370-F6CD-6BD0-82B2E2CE4A25}"/>
              </a:ext>
            </a:extLst>
          </p:cNvPr>
          <p:cNvSpPr/>
          <p:nvPr/>
        </p:nvSpPr>
        <p:spPr>
          <a:xfrm rot="16200000">
            <a:off x="5638241" y="9455486"/>
            <a:ext cx="2287704" cy="1562100"/>
          </a:xfrm>
          <a:prstGeom prst="flowChartOffpageConnector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60" name="流程圖: 換頁接點 59">
            <a:extLst>
              <a:ext uri="{FF2B5EF4-FFF2-40B4-BE49-F238E27FC236}">
                <a16:creationId xmlns:a16="http://schemas.microsoft.com/office/drawing/2014/main" id="{37AC9000-F7E7-14ED-E443-81953D0929EE}"/>
              </a:ext>
            </a:extLst>
          </p:cNvPr>
          <p:cNvSpPr/>
          <p:nvPr/>
        </p:nvSpPr>
        <p:spPr>
          <a:xfrm rot="16200000">
            <a:off x="4441369" y="9241964"/>
            <a:ext cx="2287702" cy="2012165"/>
          </a:xfrm>
          <a:prstGeom prst="flowChartOffpageConnector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56" name="文字方塊 55">
            <a:extLst>
              <a:ext uri="{FF2B5EF4-FFF2-40B4-BE49-F238E27FC236}">
                <a16:creationId xmlns:a16="http://schemas.microsoft.com/office/drawing/2014/main" id="{B8A1B8E4-84A2-23FC-F57D-597A206F41C3}"/>
              </a:ext>
            </a:extLst>
          </p:cNvPr>
          <p:cNvSpPr txBox="1"/>
          <p:nvPr/>
        </p:nvSpPr>
        <p:spPr>
          <a:xfrm>
            <a:off x="4627119" y="9585442"/>
            <a:ext cx="2724619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600" dirty="0">
                <a:solidFill>
                  <a:schemeClr val="bg2">
                    <a:lumMod val="50000"/>
                  </a:schemeClr>
                </a:solidFill>
              </a:rPr>
              <a:t>Rule-based Math-OCR lacked reliable handling of fragmented symbols and had no metric-level performance comparison.</a:t>
            </a:r>
            <a:endParaRPr lang="zh-TW" altLang="en-US" sz="16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58" name="文字方塊 57">
            <a:extLst>
              <a:ext uri="{FF2B5EF4-FFF2-40B4-BE49-F238E27FC236}">
                <a16:creationId xmlns:a16="http://schemas.microsoft.com/office/drawing/2014/main" id="{DCA763E4-D8CF-E305-120A-573A81AEAC55}"/>
              </a:ext>
            </a:extLst>
          </p:cNvPr>
          <p:cNvSpPr txBox="1"/>
          <p:nvPr/>
        </p:nvSpPr>
        <p:spPr>
          <a:xfrm>
            <a:off x="4439555" y="9104198"/>
            <a:ext cx="284797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b="1" dirty="0">
                <a:solidFill>
                  <a:schemeClr val="bg2">
                    <a:lumMod val="25000"/>
                  </a:schemeClr>
                </a:solidFill>
              </a:rPr>
              <a:t>Before this study</a:t>
            </a:r>
          </a:p>
        </p:txBody>
      </p:sp>
      <p:sp>
        <p:nvSpPr>
          <p:cNvPr id="62" name="文字方塊 61">
            <a:extLst>
              <a:ext uri="{FF2B5EF4-FFF2-40B4-BE49-F238E27FC236}">
                <a16:creationId xmlns:a16="http://schemas.microsoft.com/office/drawing/2014/main" id="{3F2A7A24-B39D-81A2-D514-3E0F424CA6DD}"/>
              </a:ext>
            </a:extLst>
          </p:cNvPr>
          <p:cNvSpPr txBox="1"/>
          <p:nvPr/>
        </p:nvSpPr>
        <p:spPr>
          <a:xfrm>
            <a:off x="7555699" y="9451705"/>
            <a:ext cx="2586637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600" dirty="0">
                <a:solidFill>
                  <a:schemeClr val="bg2">
                    <a:lumMod val="50000"/>
                  </a:schemeClr>
                </a:solidFill>
              </a:rPr>
              <a:t>We benchmarked L2, </a:t>
            </a:r>
            <a:r>
              <a:rPr lang="en-US" altLang="zh-TW" sz="1600" dirty="0" err="1">
                <a:solidFill>
                  <a:schemeClr val="bg2">
                    <a:lumMod val="50000"/>
                  </a:schemeClr>
                </a:solidFill>
              </a:rPr>
              <a:t>Hausdorff</a:t>
            </a:r>
            <a:r>
              <a:rPr lang="en-US" altLang="zh-TW" sz="1600" dirty="0">
                <a:solidFill>
                  <a:schemeClr val="bg2">
                    <a:lumMod val="50000"/>
                  </a:schemeClr>
                </a:solidFill>
              </a:rPr>
              <a:t>, and Chamfer inside an adaptive clustering pipeline across desktop and mobile hardware.</a:t>
            </a:r>
            <a:endParaRPr lang="zh-TW" altLang="en-US" sz="16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1024" name="文字方塊 1023">
            <a:extLst>
              <a:ext uri="{FF2B5EF4-FFF2-40B4-BE49-F238E27FC236}">
                <a16:creationId xmlns:a16="http://schemas.microsoft.com/office/drawing/2014/main" id="{2CB1035C-EB01-6ABC-05F7-A01C5CCD87EE}"/>
              </a:ext>
            </a:extLst>
          </p:cNvPr>
          <p:cNvSpPr txBox="1"/>
          <p:nvPr/>
        </p:nvSpPr>
        <p:spPr>
          <a:xfrm>
            <a:off x="7117098" y="9104198"/>
            <a:ext cx="284797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b="1" dirty="0">
                <a:solidFill>
                  <a:schemeClr val="bg2">
                    <a:lumMod val="25000"/>
                  </a:schemeClr>
                </a:solidFill>
              </a:rPr>
              <a:t>Added value</a:t>
            </a:r>
          </a:p>
        </p:txBody>
      </p:sp>
      <p:sp>
        <p:nvSpPr>
          <p:cNvPr id="1025" name="文字方塊 1024">
            <a:extLst>
              <a:ext uri="{FF2B5EF4-FFF2-40B4-BE49-F238E27FC236}">
                <a16:creationId xmlns:a16="http://schemas.microsoft.com/office/drawing/2014/main" id="{37EC87FF-6830-81FB-9F69-6335A58CD119}"/>
              </a:ext>
            </a:extLst>
          </p:cNvPr>
          <p:cNvSpPr txBox="1"/>
          <p:nvPr/>
        </p:nvSpPr>
        <p:spPr>
          <a:xfrm>
            <a:off x="9450279" y="9104198"/>
            <a:ext cx="284797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b="1" dirty="0">
                <a:solidFill>
                  <a:schemeClr val="bg2">
                    <a:lumMod val="25000"/>
                  </a:schemeClr>
                </a:solidFill>
              </a:rPr>
              <a:t>Implications</a:t>
            </a:r>
          </a:p>
        </p:txBody>
      </p:sp>
      <p:sp>
        <p:nvSpPr>
          <p:cNvPr id="1027" name="文字方塊 1026">
            <a:extLst>
              <a:ext uri="{FF2B5EF4-FFF2-40B4-BE49-F238E27FC236}">
                <a16:creationId xmlns:a16="http://schemas.microsoft.com/office/drawing/2014/main" id="{E959A3EA-C204-3E5B-8ACE-8D1CAD6C386D}"/>
              </a:ext>
            </a:extLst>
          </p:cNvPr>
          <p:cNvSpPr txBox="1"/>
          <p:nvPr/>
        </p:nvSpPr>
        <p:spPr>
          <a:xfrm>
            <a:off x="10021721" y="9380658"/>
            <a:ext cx="2071358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600" dirty="0">
                <a:solidFill>
                  <a:schemeClr val="bg2">
                    <a:lumMod val="50000"/>
                  </a:schemeClr>
                </a:solidFill>
              </a:rPr>
              <a:t>Hybrid metrics—especially L2 + Chamfer—offer accurate, light-weight, and mobile-feasible recognition of complex math symbols.</a:t>
            </a:r>
            <a:endParaRPr lang="zh-TW" altLang="en-US" sz="1600" dirty="0">
              <a:solidFill>
                <a:schemeClr val="bg2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6335822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 佈景主題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佈景主題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佈景主題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77</TotalTime>
  <Words>288</Words>
  <Application>Microsoft Office PowerPoint</Application>
  <PresentationFormat>自訂</PresentationFormat>
  <Paragraphs>25</Paragraphs>
  <Slides>1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5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</vt:i4>
      </vt:variant>
    </vt:vector>
  </HeadingPairs>
  <TitlesOfParts>
    <vt:vector size="7" baseType="lpstr">
      <vt:lpstr>Microsoft YaHei Light</vt:lpstr>
      <vt:lpstr>Aptos</vt:lpstr>
      <vt:lpstr>Aptos Display</vt:lpstr>
      <vt:lpstr>Arial</vt:lpstr>
      <vt:lpstr>Monotype Corsiva</vt:lpstr>
      <vt:lpstr>Office 佈景主題</vt:lpstr>
      <vt:lpstr>PowerPoint 簡報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KK L</dc:creator>
  <cp:lastModifiedBy>KK L</cp:lastModifiedBy>
  <cp:revision>46</cp:revision>
  <dcterms:created xsi:type="dcterms:W3CDTF">2025-12-22T08:51:24Z</dcterms:created>
  <dcterms:modified xsi:type="dcterms:W3CDTF">2025-12-22T10:12:53Z</dcterms:modified>
</cp:coreProperties>
</file>